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Unit III: Python Programming Basics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Variables and data types </a:t>
            </a:r>
            <a:r>
              <a:rPr sz="2200">
                <a:solidFill>
                  <a:srgbClr val="141414"/>
                </a:solidFill>
                <a:latin typeface="Cambria"/>
              </a:rPr>
              <a:t> Understanding how Python stores and represents information.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Strings and biological sequences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Representing DNA, RNA and protein sequences as text.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and slicing </a:t>
            </a:r>
            <a:r>
              <a:rPr sz="2200">
                <a:solidFill>
                  <a:srgbClr val="141414"/>
                </a:solidFill>
                <a:latin typeface="Cambria"/>
              </a:rPr>
              <a:t> Accessing individual characters and extracting sequence regions.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Data structures </a:t>
            </a:r>
            <a:r>
              <a:rPr sz="2200">
                <a:solidFill>
                  <a:srgbClr val="141414"/>
                </a:solidFill>
                <a:latin typeface="Cambria"/>
              </a:rPr>
              <a:t> Organizing multiple values using lists, tuples, sets and dictionaries.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Arrays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Representing numerical and multidimensional biological data.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Conditional statements </a:t>
            </a:r>
            <a:r>
              <a:rPr sz="2200">
                <a:solidFill>
                  <a:srgbClr val="141414"/>
                </a:solidFill>
                <a:latin typeface="Cambria"/>
              </a:rPr>
              <a:t> Making decisions using `if`, `elif` and `else`.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Loops </a:t>
            </a:r>
            <a:r>
              <a:rPr sz="2200">
                <a:solidFill>
                  <a:srgbClr val="141414"/>
                </a:solidFill>
                <a:latin typeface="Cambria"/>
              </a:rPr>
              <a:t> Repeating operations using `for` and `while`.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Functions </a:t>
            </a:r>
            <a:r>
              <a:rPr sz="2200">
                <a:solidFill>
                  <a:srgbClr val="141414"/>
                </a:solidFill>
                <a:latin typeface="Cambria"/>
              </a:rPr>
              <a:t> Creating reusable blocks of code with inputs and outputs.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Bioinformatics functions </a:t>
            </a:r>
            <a:r>
              <a:rPr sz="2200">
                <a:solidFill>
                  <a:srgbClr val="141414"/>
                </a:solidFill>
                <a:latin typeface="Cambria"/>
              </a:rPr>
              <a:t> Combining Python fundamentals with simple sequence analysis.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Recursion </a:t>
            </a:r>
            <a:r>
              <a:rPr sz="2200">
                <a:solidFill>
                  <a:srgbClr val="141414"/>
                </a:solidFill>
                <a:latin typeface="Cambria"/>
              </a:rPr>
              <a:t> Understanding functions that call themselves to solve smaller versions of a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Learning Objectives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Understand </a:t>
            </a:r>
            <a:r>
              <a:rPr sz="2200">
                <a:solidFill>
                  <a:srgbClr val="141414"/>
                </a:solidFill>
                <a:latin typeface="Cambria"/>
              </a:rPr>
              <a:t> the basic building blocks of Python programs.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Represent </a:t>
            </a:r>
            <a:r>
              <a:rPr sz="2200">
                <a:solidFill>
                  <a:srgbClr val="141414"/>
                </a:solidFill>
                <a:latin typeface="Cambria"/>
              </a:rPr>
              <a:t> biological information using variables, strings and collections.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Access </a:t>
            </a:r>
            <a:r>
              <a:rPr sz="2200">
                <a:solidFill>
                  <a:srgbClr val="141414"/>
                </a:solidFill>
                <a:latin typeface="Cambria"/>
              </a:rPr>
              <a:t> individual elements using indexing and slicing.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Organize </a:t>
            </a:r>
            <a:r>
              <a:rPr sz="2200">
                <a:solidFill>
                  <a:srgbClr val="141414"/>
                </a:solidFill>
                <a:latin typeface="Cambria"/>
              </a:rPr>
              <a:t> related information using appropriate data structures.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Make decisions </a:t>
            </a:r>
            <a:r>
              <a:rPr sz="2200">
                <a:solidFill>
                  <a:srgbClr val="141414"/>
                </a:solidFill>
                <a:latin typeface="Cambria"/>
              </a:rPr>
              <a:t> using Boolean expressions and conditional statements.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Repeat operations </a:t>
            </a:r>
            <a:r>
              <a:rPr sz="2200">
                <a:solidFill>
                  <a:srgbClr val="141414"/>
                </a:solidFill>
                <a:latin typeface="Cambria"/>
              </a:rPr>
              <a:t> efficiently using loops.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Write reusable code </a:t>
            </a:r>
            <a:r>
              <a:rPr sz="2200">
                <a:solidFill>
                  <a:srgbClr val="141414"/>
                </a:solidFill>
                <a:latin typeface="Cambria"/>
              </a:rPr>
              <a:t> using functions, parameters and return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Apply programming concepts </a:t>
            </a:r>
            <a:r>
              <a:rPr sz="2200">
                <a:solidFill>
                  <a:srgbClr val="141414"/>
                </a:solidFill>
                <a:latin typeface="Cambria"/>
              </a:rPr>
              <a:t> to simple computational biology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1. Variables and Values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Variable </a:t>
            </a:r>
            <a:r>
              <a:rPr sz="2200">
                <a:solidFill>
                  <a:srgbClr val="141414"/>
                </a:solidFill>
                <a:latin typeface="Cambria"/>
              </a:rPr>
              <a:t> A named reference used to store or access a value.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Value </a:t>
            </a:r>
            <a:r>
              <a:rPr sz="2200">
                <a:solidFill>
                  <a:srgbClr val="141414"/>
                </a:solidFill>
                <a:latin typeface="Cambria"/>
              </a:rPr>
              <a:t> The actual information associated with a variable.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Assignment </a:t>
            </a:r>
            <a:r>
              <a:rPr sz="2200">
                <a:solidFill>
                  <a:srgbClr val="141414"/>
                </a:solidFill>
                <a:latin typeface="Cambria"/>
              </a:rPr>
              <a:t> The `=` operator associates a value with a variable name.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`gene = "TP53"` stores the text `TP53` under the name `gene`.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Reassignment </a:t>
            </a:r>
            <a:r>
              <a:rPr sz="2200">
                <a:solidFill>
                  <a:srgbClr val="141414"/>
                </a:solidFill>
                <a:latin typeface="Cambria"/>
              </a:rPr>
              <a:t> A variable can later be associated with a different value.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Importance </a:t>
            </a:r>
            <a:r>
              <a:rPr sz="2200">
                <a:solidFill>
                  <a:srgbClr val="141414"/>
                </a:solidFill>
                <a:latin typeface="Cambria"/>
              </a:rPr>
              <a:t> Variables allow programs to work with meaningful names instead of repeatedly writing raw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2. Python Data Types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Integer (`int`)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whole numbers such as `10`, `25` or `393`.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Float (`float`)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decimal numbers such as `37.5` or `0.001`.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String (`str`)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text such as `"TP53"` or `"ATGCGT"`.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Boolean (`bool`)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one of two logical states: `True` or `False`.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Type </a:t>
            </a:r>
            <a:r>
              <a:rPr sz="2200">
                <a:solidFill>
                  <a:srgbClr val="141414"/>
                </a:solidFill>
                <a:latin typeface="Cambria"/>
              </a:rPr>
              <a:t> Describes how Python interprets a value and which operations are appropriate for it.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Type checking </a:t>
            </a:r>
            <a:r>
              <a:rPr sz="2200">
                <a:solidFill>
                  <a:srgbClr val="141414"/>
                </a:solidFill>
                <a:latin typeface="Cambria"/>
              </a:rPr>
              <a:t> `type()` can be used to inspect the type of a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3. Type Conversion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Type conversion </a:t>
            </a:r>
            <a:r>
              <a:rPr sz="2200">
                <a:solidFill>
                  <a:srgbClr val="141414"/>
                </a:solidFill>
                <a:latin typeface="Cambria"/>
              </a:rPr>
              <a:t> Changing a value from one Python data type to another compatible type.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`int()` </a:t>
            </a:r>
            <a:r>
              <a:rPr sz="2200">
                <a:solidFill>
                  <a:srgbClr val="141414"/>
                </a:solidFill>
                <a:latin typeface="Cambria"/>
              </a:rPr>
              <a:t> Converts suitable values to integers.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`float()` </a:t>
            </a:r>
            <a:r>
              <a:rPr sz="2200">
                <a:solidFill>
                  <a:srgbClr val="141414"/>
                </a:solidFill>
                <a:latin typeface="Cambria"/>
              </a:rPr>
              <a:t> Converts suitable values to floating-point numbers.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`str()` </a:t>
            </a:r>
            <a:r>
              <a:rPr sz="2200">
                <a:solidFill>
                  <a:srgbClr val="141414"/>
                </a:solidFill>
                <a:latin typeface="Cambria"/>
              </a:rPr>
              <a:t> Converts a value into text.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Why it matters </a:t>
            </a:r>
            <a:r>
              <a:rPr sz="2200">
                <a:solidFill>
                  <a:srgbClr val="141414"/>
                </a:solidFill>
                <a:latin typeface="Cambria"/>
              </a:rPr>
              <a:t> Data read from users or files may be represented as strings even when numerical calculations are required.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Converting `"100"` to `100` allows numerical arithmetic.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4. Input and Output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`print()` </a:t>
            </a:r>
            <a:r>
              <a:rPr sz="2200">
                <a:solidFill>
                  <a:srgbClr val="141414"/>
                </a:solidFill>
                <a:latin typeface="Cambria"/>
              </a:rPr>
              <a:t> Displays information on the screen.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`input()` </a:t>
            </a:r>
            <a:r>
              <a:rPr sz="2200">
                <a:solidFill>
                  <a:srgbClr val="141414"/>
                </a:solidFill>
                <a:latin typeface="Cambria"/>
              </a:rPr>
              <a:t> Receives text entered by the user.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Input type </a:t>
            </a:r>
            <a:r>
              <a:rPr sz="2200">
                <a:solidFill>
                  <a:srgbClr val="141414"/>
                </a:solidFill>
                <a:latin typeface="Cambria"/>
              </a:rPr>
              <a:t> Values returned by `input()` are normally strings.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Conversion </a:t>
            </a:r>
            <a:r>
              <a:rPr sz="2200">
                <a:solidFill>
                  <a:srgbClr val="141414"/>
                </a:solidFill>
                <a:latin typeface="Cambria"/>
              </a:rPr>
              <a:t> Numerical input should be converted when arithmetic is required.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Output design </a:t>
            </a:r>
            <a:r>
              <a:rPr sz="2200">
                <a:solidFill>
                  <a:srgbClr val="141414"/>
                </a:solidFill>
                <a:latin typeface="Cambria"/>
              </a:rPr>
              <a:t> Clear labels make program results easier to understand.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program can ask for a DNA sequence and report its length.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5. Strings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String </a:t>
            </a:r>
            <a:r>
              <a:rPr sz="2200">
                <a:solidFill>
                  <a:srgbClr val="141414"/>
                </a:solidFill>
                <a:latin typeface="Cambria"/>
              </a:rPr>
              <a:t> An ordered sequence of characters enclosed in quotes.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DNA, RNA, protein sequences and identifiers can be represented as strings.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Length </a:t>
            </a:r>
            <a:r>
              <a:rPr sz="2200">
                <a:solidFill>
                  <a:srgbClr val="141414"/>
                </a:solidFill>
                <a:latin typeface="Cambria"/>
              </a:rPr>
              <a:t> `len(sequence)` gives the number of characters.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Counting </a:t>
            </a:r>
            <a:r>
              <a:rPr sz="2200">
                <a:solidFill>
                  <a:srgbClr val="141414"/>
                </a:solidFill>
                <a:latin typeface="Cambria"/>
              </a:rPr>
              <a:t> `sequence.count("G")` counts occurrences of a character or substring.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Case conversion </a:t>
            </a:r>
            <a:r>
              <a:rPr sz="2200">
                <a:solidFill>
                  <a:srgbClr val="141414"/>
                </a:solidFill>
                <a:latin typeface="Cambria"/>
              </a:rPr>
              <a:t> `upper()` and `lower()` change the case of a string.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Replacement </a:t>
            </a:r>
            <a:r>
              <a:rPr sz="2200">
                <a:solidFill>
                  <a:srgbClr val="141414"/>
                </a:solidFill>
                <a:latin typeface="Cambria"/>
              </a:rPr>
              <a:t> `replace()` can substitute one character or substring for another.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6. Indexing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</a:t>
            </a:r>
            <a:r>
              <a:rPr sz="2200">
                <a:solidFill>
                  <a:srgbClr val="141414"/>
                </a:solidFill>
                <a:latin typeface="Cambria"/>
              </a:rPr>
              <a:t> Accessing one item at a particular position in an ordered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Zero-based indexing </a:t>
            </a:r>
            <a:r>
              <a:rPr sz="2200">
                <a:solidFill>
                  <a:srgbClr val="141414"/>
                </a:solidFill>
                <a:latin typeface="Cambria"/>
              </a:rPr>
              <a:t> Python assigns index `0` to the first item.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Second item </a:t>
            </a:r>
            <a:r>
              <a:rPr sz="2200">
                <a:solidFill>
                  <a:srgbClr val="141414"/>
                </a:solidFill>
                <a:latin typeface="Cambria"/>
              </a:rPr>
              <a:t> The second item has index `1`.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Sequence example </a:t>
            </a:r>
            <a:r>
              <a:rPr sz="2200">
                <a:solidFill>
                  <a:srgbClr val="141414"/>
                </a:solidFill>
                <a:latin typeface="Cambria"/>
              </a:rPr>
              <a:t> In `ATGCG`, `sequence[0]` is `A`.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Applicability </a:t>
            </a:r>
            <a:r>
              <a:rPr sz="2200">
                <a:solidFill>
                  <a:srgbClr val="141414"/>
                </a:solidFill>
                <a:latin typeface="Cambria"/>
              </a:rPr>
              <a:t> Indexing works with strings, lists, tuples and other ordered sequences.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Important point </a:t>
            </a:r>
            <a:r>
              <a:rPr sz="2200">
                <a:solidFill>
                  <a:srgbClr val="141414"/>
                </a:solidFill>
                <a:latin typeface="Cambria"/>
              </a:rPr>
              <a:t> Index position and biological position are not always numbered in the same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7. Negative Indexing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Negative indexing </a:t>
            </a:r>
            <a:r>
              <a:rPr sz="2200">
                <a:solidFill>
                  <a:srgbClr val="141414"/>
                </a:solidFill>
                <a:latin typeface="Cambria"/>
              </a:rPr>
              <a:t> Accesses elements by counting backward from the end.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`-1` </a:t>
            </a:r>
            <a:r>
              <a:rPr sz="2200">
                <a:solidFill>
                  <a:srgbClr val="141414"/>
                </a:solidFill>
                <a:latin typeface="Cambria"/>
              </a:rPr>
              <a:t> Refers to the final element.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`-2` </a:t>
            </a:r>
            <a:r>
              <a:rPr sz="2200">
                <a:solidFill>
                  <a:srgbClr val="141414"/>
                </a:solidFill>
                <a:latin typeface="Cambria"/>
              </a:rPr>
              <a:t> Refers to the second-last element.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Advantage </a:t>
            </a:r>
            <a:r>
              <a:rPr sz="2200">
                <a:solidFill>
                  <a:srgbClr val="141414"/>
                </a:solidFill>
                <a:latin typeface="Cambria"/>
              </a:rPr>
              <a:t> Negative indexing is useful when the required position is near the end.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`dna[-1]` returns the last nucleotide.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Concept </a:t>
            </a:r>
            <a:r>
              <a:rPr sz="2200">
                <a:solidFill>
                  <a:srgbClr val="141414"/>
                </a:solidFill>
                <a:latin typeface="Cambria"/>
              </a:rPr>
              <a:t> Positive indices count from the beginning; negative indices count from the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8. Slicing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Slicing </a:t>
            </a:r>
            <a:r>
              <a:rPr sz="2200">
                <a:solidFill>
                  <a:srgbClr val="141414"/>
                </a:solidFill>
                <a:latin typeface="Cambria"/>
              </a:rPr>
              <a:t> Extracts a portion of an ordered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Basic syntax </a:t>
            </a:r>
            <a:r>
              <a:rPr sz="2200">
                <a:solidFill>
                  <a:srgbClr val="141414"/>
                </a:solidFill>
                <a:latin typeface="Cambria"/>
              </a:rPr>
              <a:t> `sequence[start:stop]`.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Start position </a:t>
            </a:r>
            <a:r>
              <a:rPr sz="2200">
                <a:solidFill>
                  <a:srgbClr val="141414"/>
                </a:solidFill>
                <a:latin typeface="Cambria"/>
              </a:rPr>
              <a:t> The start index is included.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Stop position </a:t>
            </a:r>
            <a:r>
              <a:rPr sz="2200">
                <a:solidFill>
                  <a:srgbClr val="141414"/>
                </a:solidFill>
                <a:latin typeface="Cambria"/>
              </a:rPr>
              <a:t> The stop index is excluded.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Open boundaries </a:t>
            </a:r>
            <a:r>
              <a:rPr sz="2200">
                <a:solidFill>
                  <a:srgbClr val="141414"/>
                </a:solidFill>
                <a:latin typeface="Cambria"/>
              </a:rPr>
              <a:t> `sequence[:3]` starts at the beginning and `sequence[3:]` continues to the end.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Step </a:t>
            </a:r>
            <a:r>
              <a:rPr sz="2200">
                <a:solidFill>
                  <a:srgbClr val="141414"/>
                </a:solidFill>
                <a:latin typeface="Cambria"/>
              </a:rPr>
              <a:t> `sequence[start:stop:step]` allows controlled movement through the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Slicing can extract a region from a DNA, RNA or protein sequence.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9. What Is a Data Structure?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Data structure </a:t>
            </a:r>
            <a:r>
              <a:rPr sz="2200">
                <a:solidFill>
                  <a:srgbClr val="141414"/>
                </a:solidFill>
                <a:latin typeface="Cambria"/>
              </a:rPr>
              <a:t> A method of organizing multiple values so they can be stored and manipulated efficiently.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Need </a:t>
            </a:r>
            <a:r>
              <a:rPr sz="2200">
                <a:solidFill>
                  <a:srgbClr val="141414"/>
                </a:solidFill>
                <a:latin typeface="Cambria"/>
              </a:rPr>
              <a:t> Biological programs often work with many genes, sequences, compounds or measurements.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Collection </a:t>
            </a:r>
            <a:r>
              <a:rPr sz="2200">
                <a:solidFill>
                  <a:srgbClr val="141414"/>
                </a:solidFill>
                <a:latin typeface="Cambria"/>
              </a:rPr>
              <a:t> A data structure allows related values to be handled together.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Choice </a:t>
            </a:r>
            <a:r>
              <a:rPr sz="2200">
                <a:solidFill>
                  <a:srgbClr val="141414"/>
                </a:solidFill>
                <a:latin typeface="Cambria"/>
              </a:rPr>
              <a:t> Different structures are appropriate for different types of information.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Python basics </a:t>
            </a:r>
            <a:r>
              <a:rPr sz="2200">
                <a:solidFill>
                  <a:srgbClr val="141414"/>
                </a:solidFill>
                <a:latin typeface="Cambria"/>
              </a:rPr>
              <a:t> The main beginner structures are lists, tuples, sets and dictionaries.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10. Lists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List </a:t>
            </a:r>
            <a:r>
              <a:rPr sz="2200">
                <a:solidFill>
                  <a:srgbClr val="141414"/>
                </a:solidFill>
                <a:latin typeface="Cambria"/>
              </a:rPr>
              <a:t> An ordered and changeable collection written using square brackets.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</a:t>
            </a:r>
            <a:r>
              <a:rPr sz="2200">
                <a:solidFill>
                  <a:srgbClr val="141414"/>
                </a:solidFill>
                <a:latin typeface="Cambria"/>
              </a:rPr>
              <a:t> List elements can be accessed using their positions.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Mutation </a:t>
            </a:r>
            <a:r>
              <a:rPr sz="2200">
                <a:solidFill>
                  <a:srgbClr val="141414"/>
                </a:solidFill>
                <a:latin typeface="Cambria"/>
              </a:rPr>
              <a:t> Existing elements can be changed.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`append()` </a:t>
            </a:r>
            <a:r>
              <a:rPr sz="2200">
                <a:solidFill>
                  <a:srgbClr val="141414"/>
                </a:solidFill>
                <a:latin typeface="Cambria"/>
              </a:rPr>
              <a:t> Adds an item to the end of a list.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`insert()` </a:t>
            </a:r>
            <a:r>
              <a:rPr sz="2200">
                <a:solidFill>
                  <a:srgbClr val="141414"/>
                </a:solidFill>
                <a:latin typeface="Cambria"/>
              </a:rPr>
              <a:t> Adds an item at a specified position.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`remove()` </a:t>
            </a:r>
            <a:r>
              <a:rPr sz="2200">
                <a:solidFill>
                  <a:srgbClr val="141414"/>
                </a:solidFill>
                <a:latin typeface="Cambria"/>
              </a:rPr>
              <a:t> Removes a matching item.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`len()` </a:t>
            </a:r>
            <a:r>
              <a:rPr sz="2200">
                <a:solidFill>
                  <a:srgbClr val="141414"/>
                </a:solidFill>
                <a:latin typeface="Cambria"/>
              </a:rPr>
              <a:t> Returns the number of items.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Lists can store gene names, sequences, protein IDs or experimental measurements.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11. Tuples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Tuple </a:t>
            </a:r>
            <a:r>
              <a:rPr sz="2200">
                <a:solidFill>
                  <a:srgbClr val="141414"/>
                </a:solidFill>
                <a:latin typeface="Cambria"/>
              </a:rPr>
              <a:t> An ordered collection written using parentheses.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</a:t>
            </a:r>
            <a:r>
              <a:rPr sz="2200">
                <a:solidFill>
                  <a:srgbClr val="141414"/>
                </a:solidFill>
                <a:latin typeface="Cambria"/>
              </a:rPr>
              <a:t> Tuple elements can be accessed by position.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Immutability </a:t>
            </a:r>
            <a:r>
              <a:rPr sz="2200">
                <a:solidFill>
                  <a:srgbClr val="141414"/>
                </a:solidFill>
                <a:latin typeface="Cambria"/>
              </a:rPr>
              <a:t> Tuple contents cannot normally be changed after creation.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Tuples are suitable for fixed groups of related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coordinate can be represented as `(x, y, z)`.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Comparison </a:t>
            </a:r>
            <a:r>
              <a:rPr sz="2200">
                <a:solidFill>
                  <a:srgbClr val="141414"/>
                </a:solidFill>
                <a:latin typeface="Cambria"/>
              </a:rPr>
              <a:t> Use a list when the collection is expected to change; use a tuple when it should remain fixed.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12. Sets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Set </a:t>
            </a:r>
            <a:r>
              <a:rPr sz="2200">
                <a:solidFill>
                  <a:srgbClr val="141414"/>
                </a:solidFill>
                <a:latin typeface="Cambria"/>
              </a:rPr>
              <a:t> A collection designed to store unique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Uniqueness </a:t>
            </a:r>
            <a:r>
              <a:rPr sz="2200">
                <a:solidFill>
                  <a:srgbClr val="141414"/>
                </a:solidFill>
                <a:latin typeface="Cambria"/>
              </a:rPr>
              <a:t> Duplicate values are automatically removed.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Membership </a:t>
            </a:r>
            <a:r>
              <a:rPr sz="2200">
                <a:solidFill>
                  <a:srgbClr val="141414"/>
                </a:solidFill>
                <a:latin typeface="Cambria"/>
              </a:rPr>
              <a:t> Sets are useful for asking whether an item is present.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Order </a:t>
            </a:r>
            <a:r>
              <a:rPr sz="2200">
                <a:solidFill>
                  <a:srgbClr val="141414"/>
                </a:solidFill>
                <a:latin typeface="Cambria"/>
              </a:rPr>
              <a:t> A set should not be treated as an indexed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A set can identify the unique nucleotide or amino-acid symbols present in a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Converting a sequence to a set can reveal which different characters occur.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13. Dictionaries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Dictionary </a:t>
            </a:r>
            <a:r>
              <a:rPr sz="2200">
                <a:solidFill>
                  <a:srgbClr val="141414"/>
                </a:solidFill>
                <a:latin typeface="Cambria"/>
              </a:rPr>
              <a:t> A collection of key-value pairs.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Key </a:t>
            </a:r>
            <a:r>
              <a:rPr sz="2200">
                <a:solidFill>
                  <a:srgbClr val="141414"/>
                </a:solidFill>
                <a:latin typeface="Cambria"/>
              </a:rPr>
              <a:t> A label used to access associated information.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Value </a:t>
            </a:r>
            <a:r>
              <a:rPr sz="2200">
                <a:solidFill>
                  <a:srgbClr val="141414"/>
                </a:solidFill>
                <a:latin typeface="Cambria"/>
              </a:rPr>
              <a:t> The information stored under a key.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Access </a:t>
            </a:r>
            <a:r>
              <a:rPr sz="2200">
                <a:solidFill>
                  <a:srgbClr val="141414"/>
                </a:solidFill>
                <a:latin typeface="Cambria"/>
              </a:rPr>
              <a:t> `gene["length"]` retrieves the value associated with the key `length`.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Update </a:t>
            </a:r>
            <a:r>
              <a:rPr sz="2200">
                <a:solidFill>
                  <a:srgbClr val="141414"/>
                </a:solidFill>
                <a:latin typeface="Cambria"/>
              </a:rPr>
              <a:t> Existing values can be changed and new key-value pairs can be added.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Dictionaries are useful for gene, protein, compound and sample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14. Choosing a Data Structure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List </a:t>
            </a:r>
            <a:r>
              <a:rPr sz="2200">
                <a:solidFill>
                  <a:srgbClr val="141414"/>
                </a:solidFill>
                <a:latin typeface="Cambria"/>
              </a:rPr>
              <a:t> Use when order matters and the collection may change.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Tuple </a:t>
            </a:r>
            <a:r>
              <a:rPr sz="2200">
                <a:solidFill>
                  <a:srgbClr val="141414"/>
                </a:solidFill>
                <a:latin typeface="Cambria"/>
              </a:rPr>
              <a:t> Use when order matters but the collection should remain fixed.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Set </a:t>
            </a:r>
            <a:r>
              <a:rPr sz="2200">
                <a:solidFill>
                  <a:srgbClr val="141414"/>
                </a:solidFill>
                <a:latin typeface="Cambria"/>
              </a:rPr>
              <a:t> Use when uniqueness and membership are more important than position.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Dictionary </a:t>
            </a:r>
            <a:r>
              <a:rPr sz="2200">
                <a:solidFill>
                  <a:srgbClr val="141414"/>
                </a:solidFill>
                <a:latin typeface="Cambria"/>
              </a:rPr>
              <a:t> Use when values need meaningful labels or keys.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Decision rule </a:t>
            </a:r>
            <a:r>
              <a:rPr sz="2200">
                <a:solidFill>
                  <a:srgbClr val="141414"/>
                </a:solidFill>
                <a:latin typeface="Cambria"/>
              </a:rPr>
              <a:t> Choose the structure according to how the data will be accessed and modified.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Practical 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gene list, coordinate tuple, unique-base set and gene metadata dictionary solve different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15. Arrays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Array </a:t>
            </a:r>
            <a:r>
              <a:rPr sz="2200">
                <a:solidFill>
                  <a:srgbClr val="141414"/>
                </a:solidFill>
                <a:latin typeface="Cambria"/>
              </a:rPr>
              <a:t> A structured collection of values, particularly useful for numerical and multidimensional data.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One-dimensional array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a simple sequence of numerical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Two-dimensional array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rows and columns, similar to a matrix.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Nested list </a:t>
            </a:r>
            <a:r>
              <a:rPr sz="2200">
                <a:solidFill>
                  <a:srgbClr val="141414"/>
                </a:solidFill>
                <a:latin typeface="Cambria"/>
              </a:rPr>
              <a:t> Python lists can be used to represent simple multidimensional data.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Scientific computing </a:t>
            </a:r>
            <a:r>
              <a:rPr sz="2200">
                <a:solidFill>
                  <a:srgbClr val="141414"/>
                </a:solidFill>
                <a:latin typeface="Cambria"/>
              </a:rPr>
              <a:t> NumPy provides specialized numerical arrays for efficient computation.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Bioinformatics use </a:t>
            </a:r>
            <a:r>
              <a:rPr sz="2200">
                <a:solidFill>
                  <a:srgbClr val="141414"/>
                </a:solidFill>
                <a:latin typeface="Cambria"/>
              </a:rPr>
              <a:t> Arrays can represent expression matrices, feature matrices and numerical simulation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16. Nested Lists and Matrices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Nested list </a:t>
            </a:r>
            <a:r>
              <a:rPr sz="2200">
                <a:solidFill>
                  <a:srgbClr val="141414"/>
                </a:solidFill>
                <a:latin typeface="Cambria"/>
              </a:rPr>
              <a:t> A list containing other lists.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Row </a:t>
            </a:r>
            <a:r>
              <a:rPr sz="2200">
                <a:solidFill>
                  <a:srgbClr val="141414"/>
                </a:solidFill>
                <a:latin typeface="Cambria"/>
              </a:rPr>
              <a:t> An inner list can represent one row of a matrix.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Column </a:t>
            </a:r>
            <a:r>
              <a:rPr sz="2200">
                <a:solidFill>
                  <a:srgbClr val="141414"/>
                </a:solidFill>
                <a:latin typeface="Cambria"/>
              </a:rPr>
              <a:t> A position within each row represents a column.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Two-level indexing </a:t>
            </a:r>
            <a:r>
              <a:rPr sz="2200">
                <a:solidFill>
                  <a:srgbClr val="141414"/>
                </a:solidFill>
                <a:latin typeface="Cambria"/>
              </a:rPr>
              <a:t> `matrix[row][column]` accesses one element.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small expression matrix can contain genes as rows and samples as columns.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Limitation </a:t>
            </a:r>
            <a:r>
              <a:rPr sz="2200">
                <a:solidFill>
                  <a:srgbClr val="141414"/>
                </a:solidFill>
                <a:latin typeface="Cambria"/>
              </a:rPr>
              <a:t> Large numerical calculations are generally better handled with NumPy arrays.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17. NumPy Arrays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NumPy </a:t>
            </a:r>
            <a:r>
              <a:rPr sz="2200">
                <a:solidFill>
                  <a:srgbClr val="141414"/>
                </a:solidFill>
                <a:latin typeface="Cambria"/>
              </a:rPr>
              <a:t> A Python library widely used for numerical and scientific computing.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Array creation </a:t>
            </a:r>
            <a:r>
              <a:rPr sz="2200">
                <a:solidFill>
                  <a:srgbClr val="141414"/>
                </a:solidFill>
                <a:latin typeface="Cambria"/>
              </a:rPr>
              <a:t> `np.array()` converts suitable data into a NumPy array.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Shape </a:t>
            </a:r>
            <a:r>
              <a:rPr sz="2200">
                <a:solidFill>
                  <a:srgbClr val="141414"/>
                </a:solidFill>
                <a:latin typeface="Cambria"/>
              </a:rPr>
              <a:t> `.shape` reports the dimensions of an array.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</a:t>
            </a:r>
            <a:r>
              <a:rPr sz="2200">
                <a:solidFill>
                  <a:srgbClr val="141414"/>
                </a:solidFill>
                <a:latin typeface="Cambria"/>
              </a:rPr>
              <a:t> NumPy arrays use zero-based indexing like Python sequences.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Vectorized operations </a:t>
            </a:r>
            <a:r>
              <a:rPr sz="2200">
                <a:solidFill>
                  <a:srgbClr val="141414"/>
                </a:solidFill>
                <a:latin typeface="Cambria"/>
              </a:rPr>
              <a:t> Mathematical operations can be applied efficiently to many array elements.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Mean and statistics </a:t>
            </a:r>
            <a:r>
              <a:rPr sz="2200">
                <a:solidFill>
                  <a:srgbClr val="141414"/>
                </a:solidFill>
                <a:latin typeface="Cambria"/>
              </a:rPr>
              <a:t> Functions such as `np.mean()` support numerical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18. Conditional Statements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Conditional statement </a:t>
            </a:r>
            <a:r>
              <a:rPr sz="2200">
                <a:solidFill>
                  <a:srgbClr val="141414"/>
                </a:solidFill>
                <a:latin typeface="Cambria"/>
              </a:rPr>
              <a:t> Allows a program to choose what to do based on a condition.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`if` </a:t>
            </a:r>
            <a:r>
              <a:rPr sz="2200">
                <a:solidFill>
                  <a:srgbClr val="141414"/>
                </a:solidFill>
                <a:latin typeface="Cambria"/>
              </a:rPr>
              <a:t> Executes a block when its condition is true.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`else` </a:t>
            </a:r>
            <a:r>
              <a:rPr sz="2200">
                <a:solidFill>
                  <a:srgbClr val="141414"/>
                </a:solidFill>
                <a:latin typeface="Cambria"/>
              </a:rPr>
              <a:t> Executes an alternative block when the `if` condition is false.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`elif` </a:t>
            </a:r>
            <a:r>
              <a:rPr sz="2200">
                <a:solidFill>
                  <a:srgbClr val="141414"/>
                </a:solidFill>
                <a:latin typeface="Cambria"/>
              </a:rPr>
              <a:t> Tests another condition when earlier conditions are false.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Boolean expression </a:t>
            </a:r>
            <a:r>
              <a:rPr sz="2200">
                <a:solidFill>
                  <a:srgbClr val="141414"/>
                </a:solidFill>
                <a:latin typeface="Cambria"/>
              </a:rPr>
              <a:t> A condition evaluates to `True` or `False`.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use </a:t>
            </a:r>
            <a:r>
              <a:rPr sz="2200">
                <a:solidFill>
                  <a:srgbClr val="141414"/>
                </a:solidFill>
                <a:latin typeface="Cambria"/>
              </a:rPr>
              <a:t> Conditions can classify sequences, filter records or apply rule-based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19. Comparison Operators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`&gt;` </a:t>
            </a:r>
            <a:r>
              <a:rPr sz="2200">
                <a:solidFill>
                  <a:srgbClr val="141414"/>
                </a:solidFill>
                <a:latin typeface="Cambria"/>
              </a:rPr>
              <a:t> Greater than.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`&lt;` </a:t>
            </a:r>
            <a:r>
              <a:rPr sz="2200">
                <a:solidFill>
                  <a:srgbClr val="141414"/>
                </a:solidFill>
                <a:latin typeface="Cambria"/>
              </a:rPr>
              <a:t> Less than.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`&gt;=` </a:t>
            </a:r>
            <a:r>
              <a:rPr sz="2200">
                <a:solidFill>
                  <a:srgbClr val="141414"/>
                </a:solidFill>
                <a:latin typeface="Cambria"/>
              </a:rPr>
              <a:t> Greater than or equal to.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`&lt;=` </a:t>
            </a:r>
            <a:r>
              <a:rPr sz="2200">
                <a:solidFill>
                  <a:srgbClr val="141414"/>
                </a:solidFill>
                <a:latin typeface="Cambria"/>
              </a:rPr>
              <a:t> Less than or equal to.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`==` </a:t>
            </a:r>
            <a:r>
              <a:rPr sz="2200">
                <a:solidFill>
                  <a:srgbClr val="141414"/>
                </a:solidFill>
                <a:latin typeface="Cambria"/>
              </a:rPr>
              <a:t> Equal to; used for comparison.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`!=` </a:t>
            </a:r>
            <a:r>
              <a:rPr sz="2200">
                <a:solidFill>
                  <a:srgbClr val="141414"/>
                </a:solidFill>
                <a:latin typeface="Cambria"/>
              </a:rPr>
              <a:t> Not equal to.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Important distinction </a:t>
            </a:r>
            <a:r>
              <a:rPr sz="2200">
                <a:solidFill>
                  <a:srgbClr val="141414"/>
                </a:solidFill>
                <a:latin typeface="Cambria"/>
              </a:rPr>
              <a:t> `=` assigns a value, whereas `==` compares two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20. Logical Operators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`and` </a:t>
            </a:r>
            <a:r>
              <a:rPr sz="2200">
                <a:solidFill>
                  <a:srgbClr val="141414"/>
                </a:solidFill>
                <a:latin typeface="Cambria"/>
              </a:rPr>
              <a:t> Requires both conditions to be true.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`or` </a:t>
            </a:r>
            <a:r>
              <a:rPr sz="2200">
                <a:solidFill>
                  <a:srgbClr val="141414"/>
                </a:solidFill>
                <a:latin typeface="Cambria"/>
              </a:rPr>
              <a:t> Requires at least one condition to be true.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`not` </a:t>
            </a:r>
            <a:r>
              <a:rPr sz="2200">
                <a:solidFill>
                  <a:srgbClr val="141414"/>
                </a:solidFill>
                <a:latin typeface="Cambria"/>
              </a:rPr>
              <a:t> Reverses a Boolean result.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Combined conditions </a:t>
            </a:r>
            <a:r>
              <a:rPr sz="2200">
                <a:solidFill>
                  <a:srgbClr val="141414"/>
                </a:solidFill>
                <a:latin typeface="Cambria"/>
              </a:rPr>
              <a:t> Logical operators allow several criteria to be evaluated together.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sequence can be selected only when it is sufficiently long and has high GC content.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Best practice </a:t>
            </a:r>
            <a:r>
              <a:rPr sz="2200">
                <a:solidFill>
                  <a:srgbClr val="141414"/>
                </a:solidFill>
                <a:latin typeface="Cambria"/>
              </a:rPr>
              <a:t> Use parentheses when they make a complex condition easier to read.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21. Nested Conditions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Nested condition </a:t>
            </a:r>
            <a:r>
              <a:rPr sz="2200">
                <a:solidFill>
                  <a:srgbClr val="141414"/>
                </a:solidFill>
                <a:latin typeface="Cambria"/>
              </a:rPr>
              <a:t> An `if` statement placed inside another conditional block.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Outer condition </a:t>
            </a:r>
            <a:r>
              <a:rPr sz="2200">
                <a:solidFill>
                  <a:srgbClr val="141414"/>
                </a:solidFill>
                <a:latin typeface="Cambria"/>
              </a:rPr>
              <a:t> Determines whether the inner condition is evaluated.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Inner condition </a:t>
            </a:r>
            <a:r>
              <a:rPr sz="2200">
                <a:solidFill>
                  <a:srgbClr val="141414"/>
                </a:solidFill>
                <a:latin typeface="Cambria"/>
              </a:rPr>
              <a:t> Adds a second level of decision-making.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Nested conditions can represent hierarchical rules.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Readability </a:t>
            </a:r>
            <a:r>
              <a:rPr sz="2200">
                <a:solidFill>
                  <a:srgbClr val="141414"/>
                </a:solidFill>
                <a:latin typeface="Cambria"/>
              </a:rPr>
              <a:t> Too many nested levels can make code difficult to understand.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Alternative </a:t>
            </a:r>
            <a:r>
              <a:rPr sz="2200">
                <a:solidFill>
                  <a:srgbClr val="141414"/>
                </a:solidFill>
                <a:latin typeface="Cambria"/>
              </a:rPr>
              <a:t> Several conditions can sometimes be expressed more clearly using logical operators.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22. Why Do We Need Loops?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 </a:t>
            </a:r>
            <a:r>
              <a:rPr sz="2200">
                <a:solidFill>
                  <a:srgbClr val="141414"/>
                </a:solidFill>
                <a:latin typeface="Cambria"/>
              </a:rPr>
              <a:t> A programming structure that repeats a block of code.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Need </a:t>
            </a:r>
            <a:r>
              <a:rPr sz="2200">
                <a:solidFill>
                  <a:srgbClr val="141414"/>
                </a:solidFill>
                <a:latin typeface="Cambria"/>
              </a:rPr>
              <a:t> Large biological datasets contain many values that require the same operation.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Efficiency </a:t>
            </a:r>
            <a:r>
              <a:rPr sz="2200">
                <a:solidFill>
                  <a:srgbClr val="141414"/>
                </a:solidFill>
                <a:latin typeface="Cambria"/>
              </a:rPr>
              <a:t> A loop avoids writing the same statement repeatedly.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Consistency </a:t>
            </a:r>
            <a:r>
              <a:rPr sz="2200">
                <a:solidFill>
                  <a:srgbClr val="141414"/>
                </a:solidFill>
                <a:latin typeface="Cambria"/>
              </a:rPr>
              <a:t> The same operation is applied systematically to every item.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Scalability </a:t>
            </a:r>
            <a:r>
              <a:rPr sz="2200">
                <a:solidFill>
                  <a:srgbClr val="141414"/>
                </a:solidFill>
                <a:latin typeface="Cambria"/>
              </a:rPr>
              <a:t> The same loop can process four values or thousands of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Core idea </a:t>
            </a:r>
            <a:r>
              <a:rPr sz="2200">
                <a:solidFill>
                  <a:srgbClr val="141414"/>
                </a:solidFill>
                <a:latin typeface="Cambria"/>
              </a:rPr>
              <a:t> Loops automate repetition.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23. for Loops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`for` loop </a:t>
            </a:r>
            <a:r>
              <a:rPr sz="2200">
                <a:solidFill>
                  <a:srgbClr val="141414"/>
                </a:solidFill>
                <a:latin typeface="Cambria"/>
              </a:rPr>
              <a:t> Iterates over the items of an iterable such as a string, list or tuple.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 variable </a:t>
            </a:r>
            <a:r>
              <a:rPr sz="2200">
                <a:solidFill>
                  <a:srgbClr val="141414"/>
                </a:solidFill>
                <a:latin typeface="Cambria"/>
              </a:rPr>
              <a:t> Represents the current item during each iteration.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Iteration </a:t>
            </a:r>
            <a:r>
              <a:rPr sz="2200">
                <a:solidFill>
                  <a:srgbClr val="141414"/>
                </a:solidFill>
                <a:latin typeface="Cambria"/>
              </a:rPr>
              <a:t> The loop body runs once for each item.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Sequence 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`for` loop can examine every nucleotide in a DNA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List 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`for` loop can process every gene in a gene list.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Mental model </a:t>
            </a:r>
            <a:r>
              <a:rPr sz="2200">
                <a:solidFill>
                  <a:srgbClr val="141414"/>
                </a:solidFill>
                <a:latin typeface="Cambria"/>
              </a:rPr>
              <a:t> “For each item, perform this operation.”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24. range()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`range()` </a:t>
            </a:r>
            <a:r>
              <a:rPr sz="2200">
                <a:solidFill>
                  <a:srgbClr val="141414"/>
                </a:solidFill>
                <a:latin typeface="Cambria"/>
              </a:rPr>
              <a:t> Generates a sequence of integers for controlled iteration.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`range(stop)` </a:t>
            </a:r>
            <a:r>
              <a:rPr sz="2200">
                <a:solidFill>
                  <a:srgbClr val="141414"/>
                </a:solidFill>
                <a:latin typeface="Cambria"/>
              </a:rPr>
              <a:t> Starts at zero and stops before `stop`.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`range(start, stop)` </a:t>
            </a:r>
            <a:r>
              <a:rPr sz="2200">
                <a:solidFill>
                  <a:srgbClr val="141414"/>
                </a:solidFill>
                <a:latin typeface="Cambria"/>
              </a:rPr>
              <a:t> Defines a starting and ending boundary.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`range(start, stop, step)` </a:t>
            </a:r>
            <a:r>
              <a:rPr sz="2200">
                <a:solidFill>
                  <a:srgbClr val="141414"/>
                </a:solidFill>
                <a:latin typeface="Cambria"/>
              </a:rPr>
              <a:t> Controls the increment between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Important rule </a:t>
            </a:r>
            <a:r>
              <a:rPr sz="2200">
                <a:solidFill>
                  <a:srgbClr val="141414"/>
                </a:solidFill>
                <a:latin typeface="Cambria"/>
              </a:rPr>
              <a:t> The stop value is excluded.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`range()` is useful when the number or index of iterations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25. while Loops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`while` loop </a:t>
            </a:r>
            <a:r>
              <a:rPr sz="2200">
                <a:solidFill>
                  <a:srgbClr val="141414"/>
                </a:solidFill>
                <a:latin typeface="Cambria"/>
              </a:rPr>
              <a:t> Repeats a block while a condition remains true.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Difference from `for` </a:t>
            </a:r>
            <a:r>
              <a:rPr sz="2200">
                <a:solidFill>
                  <a:srgbClr val="141414"/>
                </a:solidFill>
                <a:latin typeface="Cambria"/>
              </a:rPr>
              <a:t> A `while` loop is controlled by a condition rather than directly by an iterable.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State change </a:t>
            </a:r>
            <a:r>
              <a:rPr sz="2200">
                <a:solidFill>
                  <a:srgbClr val="141414"/>
                </a:solidFill>
                <a:latin typeface="Cambria"/>
              </a:rPr>
              <a:t> Something inside the loop should normally change so that the condition eventually becomes false.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Infinite loop </a:t>
            </a:r>
            <a:r>
              <a:rPr sz="2200">
                <a:solidFill>
                  <a:srgbClr val="141414"/>
                </a:solidFill>
                <a:latin typeface="Cambria"/>
              </a:rPr>
              <a:t> If the condition never becomes false, the loop may continue indefinitely.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Useful when the number of iterations is not known in advance.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26. break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`break` </a:t>
            </a:r>
            <a:r>
              <a:rPr sz="2200">
                <a:solidFill>
                  <a:srgbClr val="141414"/>
                </a:solidFill>
                <a:latin typeface="Cambria"/>
              </a:rPr>
              <a:t> Immediately terminates the current loop.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Effect </a:t>
            </a:r>
            <a:r>
              <a:rPr sz="2200">
                <a:solidFill>
                  <a:srgbClr val="141414"/>
                </a:solidFill>
                <a:latin typeface="Cambria"/>
              </a:rPr>
              <a:t> Control moves to the statement following the loop.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Helpful when the required item has been found and further searching is unnecessary.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example </a:t>
            </a:r>
            <a:r>
              <a:rPr sz="2200">
                <a:solidFill>
                  <a:srgbClr val="141414"/>
                </a:solidFill>
                <a:latin typeface="Cambria"/>
              </a:rPr>
              <a:t> Stop scanning a sequence after finding a target base or motif.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Important </a:t>
            </a:r>
            <a:r>
              <a:rPr sz="2200">
                <a:solidFill>
                  <a:srgbClr val="141414"/>
                </a:solidFill>
                <a:latin typeface="Cambria"/>
              </a:rPr>
              <a:t> `break` stops the entire current loop, not just one iteration.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27. continue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`continue` </a:t>
            </a:r>
            <a:r>
              <a:rPr sz="2200">
                <a:solidFill>
                  <a:srgbClr val="141414"/>
                </a:solidFill>
                <a:latin typeface="Cambria"/>
              </a:rPr>
              <a:t> Skips the remaining statements in the current iteration.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Effect </a:t>
            </a:r>
            <a:r>
              <a:rPr sz="2200">
                <a:solidFill>
                  <a:srgbClr val="141414"/>
                </a:solidFill>
                <a:latin typeface="Cambria"/>
              </a:rPr>
              <a:t> The loop moves directly to its next iteration.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Use </a:t>
            </a:r>
            <a:r>
              <a:rPr sz="2200">
                <a:solidFill>
                  <a:srgbClr val="141414"/>
                </a:solidFill>
                <a:latin typeface="Cambria"/>
              </a:rPr>
              <a:t> Helpful when certain values should be ignored.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Biological example </a:t>
            </a:r>
            <a:r>
              <a:rPr sz="2200">
                <a:solidFill>
                  <a:srgbClr val="141414"/>
                </a:solidFill>
                <a:latin typeface="Cambria"/>
              </a:rPr>
              <a:t> Skip ambiguous or unwanted characters during simple sequence processing.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Difference from break </a:t>
            </a:r>
            <a:r>
              <a:rPr sz="2200">
                <a:solidFill>
                  <a:srgbClr val="141414"/>
                </a:solidFill>
                <a:latin typeface="Cambria"/>
              </a:rPr>
              <a:t> `continue` keeps the loop running; `break` terminates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28. Nested Loops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Nested loop </a:t>
            </a:r>
            <a:r>
              <a:rPr sz="2200">
                <a:solidFill>
                  <a:srgbClr val="141414"/>
                </a:solidFill>
                <a:latin typeface="Cambria"/>
              </a:rPr>
              <a:t> A loop placed inside another loop.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Outer loop </a:t>
            </a:r>
            <a:r>
              <a:rPr sz="2200">
                <a:solidFill>
                  <a:srgbClr val="141414"/>
                </a:solidFill>
                <a:latin typeface="Cambria"/>
              </a:rPr>
              <a:t> Controls the larger or first level of repetition.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Inner loop </a:t>
            </a:r>
            <a:r>
              <a:rPr sz="2200">
                <a:solidFill>
                  <a:srgbClr val="141414"/>
                </a:solidFill>
                <a:latin typeface="Cambria"/>
              </a:rPr>
              <a:t> Runs through its complete cycle for each outer-loop iteration.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Matrix example </a:t>
            </a:r>
            <a:r>
              <a:rPr sz="2200">
                <a:solidFill>
                  <a:srgbClr val="141414"/>
                </a:solidFill>
                <a:latin typeface="Cambria"/>
              </a:rPr>
              <a:t> Nested loops can visit every value in a two-dimensional matrix.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Pairwise comparison </a:t>
            </a:r>
            <a:r>
              <a:rPr sz="2200">
                <a:solidFill>
                  <a:srgbClr val="141414"/>
                </a:solidFill>
                <a:latin typeface="Cambria"/>
              </a:rPr>
              <a:t> Nested loops can compare each item with other items.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Complexity </a:t>
            </a:r>
            <a:r>
              <a:rPr sz="2200">
                <a:solidFill>
                  <a:srgbClr val="141414"/>
                </a:solidFill>
                <a:latin typeface="Cambria"/>
              </a:rPr>
              <a:t> Nested loops may become expensive as dataset size increases.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29. Loop vs Conditional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Conditional </a:t>
            </a:r>
            <a:r>
              <a:rPr sz="2200">
                <a:solidFill>
                  <a:srgbClr val="141414"/>
                </a:solidFill>
                <a:latin typeface="Cambria"/>
              </a:rPr>
              <a:t> Chooses whether a block should execute.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 </a:t>
            </a:r>
            <a:r>
              <a:rPr sz="2200">
                <a:solidFill>
                  <a:srgbClr val="141414"/>
                </a:solidFill>
                <a:latin typeface="Cambria"/>
              </a:rPr>
              <a:t> Repeats a block of code.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`if` question </a:t>
            </a:r>
            <a:r>
              <a:rPr sz="2200">
                <a:solidFill>
                  <a:srgbClr val="141414"/>
                </a:solidFill>
                <a:latin typeface="Cambria"/>
              </a:rPr>
              <a:t> “Should I do this?”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`for` question </a:t>
            </a:r>
            <a:r>
              <a:rPr sz="2200">
                <a:solidFill>
                  <a:srgbClr val="141414"/>
                </a:solidFill>
                <a:latin typeface="Cambria"/>
              </a:rPr>
              <a:t> “Do this for each item.”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`while` question </a:t>
            </a:r>
            <a:r>
              <a:rPr sz="2200">
                <a:solidFill>
                  <a:srgbClr val="141414"/>
                </a:solidFill>
                <a:latin typeface="Cambria"/>
              </a:rPr>
              <a:t> “Keep doing this while the condition is true.”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Combination </a:t>
            </a:r>
            <a:r>
              <a:rPr sz="2200">
                <a:solidFill>
                  <a:srgbClr val="141414"/>
                </a:solidFill>
                <a:latin typeface="Cambria"/>
              </a:rPr>
              <a:t> A loop can contain conditions to decide what happens for each item.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30. Why Functions?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 </a:t>
            </a:r>
            <a:r>
              <a:rPr sz="2200">
                <a:solidFill>
                  <a:srgbClr val="141414"/>
                </a:solidFill>
                <a:latin typeface="Cambria"/>
              </a:rPr>
              <a:t> A named, reusable block of code designed to perform a specific task.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Reuse </a:t>
            </a:r>
            <a:r>
              <a:rPr sz="2200">
                <a:solidFill>
                  <a:srgbClr val="141414"/>
                </a:solidFill>
                <a:latin typeface="Cambria"/>
              </a:rPr>
              <a:t> The same function can be called many times with different inputs.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Organization </a:t>
            </a:r>
            <a:r>
              <a:rPr sz="2200">
                <a:solidFill>
                  <a:srgbClr val="141414"/>
                </a:solidFill>
                <a:latin typeface="Cambria"/>
              </a:rPr>
              <a:t> Functions divide a large program into smaller logical components.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Readability </a:t>
            </a:r>
            <a:r>
              <a:rPr sz="2200">
                <a:solidFill>
                  <a:srgbClr val="141414"/>
                </a:solidFill>
                <a:latin typeface="Cambria"/>
              </a:rPr>
              <a:t> A meaningful function name can describe a complex operation clearly.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Testing </a:t>
            </a:r>
            <a:r>
              <a:rPr sz="2200">
                <a:solidFill>
                  <a:srgbClr val="141414"/>
                </a:solidFill>
                <a:latin typeface="Cambria"/>
              </a:rPr>
              <a:t> Small functions are easier to test independently.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Bioinformatics use </a:t>
            </a:r>
            <a:r>
              <a:rPr sz="2200">
                <a:solidFill>
                  <a:srgbClr val="141414"/>
                </a:solidFill>
                <a:latin typeface="Cambria"/>
              </a:rPr>
              <a:t> Sequence calculations can be packaged into reusable functions.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31. Function Definition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`def` </a:t>
            </a:r>
            <a:r>
              <a:rPr sz="2200">
                <a:solidFill>
                  <a:srgbClr val="141414"/>
                </a:solidFill>
                <a:latin typeface="Cambria"/>
              </a:rPr>
              <a:t> Keyword used to define a function.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 name </a:t>
            </a:r>
            <a:r>
              <a:rPr sz="2200">
                <a:solidFill>
                  <a:srgbClr val="141414"/>
                </a:solidFill>
                <a:latin typeface="Cambria"/>
              </a:rPr>
              <a:t> The name used to call the function later.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Parameters </a:t>
            </a:r>
            <a:r>
              <a:rPr sz="2200">
                <a:solidFill>
                  <a:srgbClr val="141414"/>
                </a:solidFill>
                <a:latin typeface="Cambria"/>
              </a:rPr>
              <a:t> Names inside the parentheses that represent expected inputs.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 body </a:t>
            </a:r>
            <a:r>
              <a:rPr sz="2200">
                <a:solidFill>
                  <a:srgbClr val="141414"/>
                </a:solidFill>
                <a:latin typeface="Cambria"/>
              </a:rPr>
              <a:t> The indented statements that perform the task.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`return` </a:t>
            </a:r>
            <a:r>
              <a:rPr sz="2200">
                <a:solidFill>
                  <a:srgbClr val="141414"/>
                </a:solidFill>
                <a:latin typeface="Cambria"/>
              </a:rPr>
              <a:t> Sends a result back to the code that called the function.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Indentation </a:t>
            </a:r>
            <a:r>
              <a:rPr sz="2200">
                <a:solidFill>
                  <a:srgbClr val="141414"/>
                </a:solidFill>
                <a:latin typeface="Cambria"/>
              </a:rPr>
              <a:t> Defines which statements belong to the function.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32. Parameters and Arguments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Parameter </a:t>
            </a:r>
            <a:r>
              <a:rPr sz="2200">
                <a:solidFill>
                  <a:srgbClr val="141414"/>
                </a:solidFill>
                <a:latin typeface="Cambria"/>
              </a:rPr>
              <a:t> A variable named in the function definition.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Argument </a:t>
            </a:r>
            <a:r>
              <a:rPr sz="2200">
                <a:solidFill>
                  <a:srgbClr val="141414"/>
                </a:solidFill>
                <a:latin typeface="Cambria"/>
              </a:rPr>
              <a:t> The actual value supplied when the function is called.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One parameter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accept a single input.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Multiple parameters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accept several inputs.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Flexibility </a:t>
            </a:r>
            <a:r>
              <a:rPr sz="2200">
                <a:solidFill>
                  <a:srgbClr val="141414"/>
                </a:solidFill>
                <a:latin typeface="Cambria"/>
              </a:rPr>
              <a:t> Parameters allow one function to operate on many different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`greet(name)` defines a parameter, while `greet("Riya")` supplies an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33. return vs print()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`print()` </a:t>
            </a:r>
            <a:r>
              <a:rPr sz="2200">
                <a:solidFill>
                  <a:srgbClr val="141414"/>
                </a:solidFill>
                <a:latin typeface="Cambria"/>
              </a:rPr>
              <a:t> Displays information for the user.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`return` </a:t>
            </a:r>
            <a:r>
              <a:rPr sz="2200">
                <a:solidFill>
                  <a:srgbClr val="141414"/>
                </a:solidFill>
                <a:latin typeface="Cambria"/>
              </a:rPr>
              <a:t> Sends a value back to the calling code.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Stored result </a:t>
            </a:r>
            <a:r>
              <a:rPr sz="2200">
                <a:solidFill>
                  <a:srgbClr val="141414"/>
                </a:solidFill>
                <a:latin typeface="Cambria"/>
              </a:rPr>
              <a:t> A returned value can be assigned to another variable.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Further calculation </a:t>
            </a:r>
            <a:r>
              <a:rPr sz="2200">
                <a:solidFill>
                  <a:srgbClr val="141414"/>
                </a:solidFill>
                <a:latin typeface="Cambria"/>
              </a:rPr>
              <a:t> A returned value can be used in another expression or function.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Design principle </a:t>
            </a:r>
            <a:r>
              <a:rPr sz="2200">
                <a:solidFill>
                  <a:srgbClr val="141414"/>
                </a:solidFill>
                <a:latin typeface="Cambria"/>
              </a:rPr>
              <a:t> Computational functions generally return values rather than only printing them.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Common beginner error </a:t>
            </a:r>
            <a:r>
              <a:rPr sz="2200">
                <a:solidFill>
                  <a:srgbClr val="141414"/>
                </a:solidFill>
                <a:latin typeface="Cambria"/>
              </a:rPr>
              <a:t> Printing a result does not automatically make it available for later calculations.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34. Default Arguments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Default argument </a:t>
            </a:r>
            <a:r>
              <a:rPr sz="2200">
                <a:solidFill>
                  <a:srgbClr val="141414"/>
                </a:solidFill>
                <a:latin typeface="Cambria"/>
              </a:rPr>
              <a:t> A parameter with a value used when the caller does not provide an argument.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Convenience </a:t>
            </a:r>
            <a:r>
              <a:rPr sz="2200">
                <a:solidFill>
                  <a:srgbClr val="141414"/>
                </a:solidFill>
                <a:latin typeface="Cambria"/>
              </a:rPr>
              <a:t> Defaults allow common cases to use shorter function calls.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Override </a:t>
            </a:r>
            <a:r>
              <a:rPr sz="2200">
                <a:solidFill>
                  <a:srgbClr val="141414"/>
                </a:solidFill>
                <a:latin typeface="Cambria"/>
              </a:rPr>
              <a:t> An explicit argument replaces the default.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`greet(name="Student")` uses Student unless another name is supplied.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Design consideration </a:t>
            </a:r>
            <a:r>
              <a:rPr sz="2200">
                <a:solidFill>
                  <a:srgbClr val="141414"/>
                </a:solidFill>
                <a:latin typeface="Cambria"/>
              </a:rPr>
              <a:t> Default values should be sensible and clearly documented.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35. Multiple Arguments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Multiple parameters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receive several pieces of related information.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Example </a:t>
            </a:r>
            <a:r>
              <a:rPr sz="2200">
                <a:solidFill>
                  <a:srgbClr val="141414"/>
                </a:solidFill>
                <a:latin typeface="Cambria"/>
              </a:rPr>
              <a:t> A gene description function might receive name, length and organism.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Order </a:t>
            </a:r>
            <a:r>
              <a:rPr sz="2200">
                <a:solidFill>
                  <a:srgbClr val="141414"/>
                </a:solidFill>
                <a:latin typeface="Cambria"/>
              </a:rPr>
              <a:t> Positional arguments normally correspond to parameters in order.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Clarity </a:t>
            </a:r>
            <a:r>
              <a:rPr sz="2200">
                <a:solidFill>
                  <a:srgbClr val="141414"/>
                </a:solidFill>
                <a:latin typeface="Cambria"/>
              </a:rPr>
              <a:t> Meaningful parameter names make functions easier to understand.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Reuse </a:t>
            </a:r>
            <a:r>
              <a:rPr sz="2200">
                <a:solidFill>
                  <a:srgbClr val="141414"/>
                </a:solidFill>
                <a:latin typeface="Cambria"/>
              </a:rPr>
              <a:t> One function can describe many different genes or proteins.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36. Variable Scope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Scope </a:t>
            </a:r>
            <a:r>
              <a:rPr sz="2200">
                <a:solidFill>
                  <a:srgbClr val="141414"/>
                </a:solidFill>
                <a:latin typeface="Cambria"/>
              </a:rPr>
              <a:t> Defines where a variable can be accessed.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Local variable </a:t>
            </a:r>
            <a:r>
              <a:rPr sz="2200">
                <a:solidFill>
                  <a:srgbClr val="141414"/>
                </a:solidFill>
                <a:latin typeface="Cambria"/>
              </a:rPr>
              <a:t> A variable created inside a function normally belongs to that function.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Outer variable </a:t>
            </a:r>
            <a:r>
              <a:rPr sz="2200">
                <a:solidFill>
                  <a:srgbClr val="141414"/>
                </a:solidFill>
                <a:latin typeface="Cambria"/>
              </a:rPr>
              <a:t> A variable defined outside a function exists in a broader scope.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Name reuse </a:t>
            </a:r>
            <a:r>
              <a:rPr sz="2200">
                <a:solidFill>
                  <a:srgbClr val="141414"/>
                </a:solidFill>
                <a:latin typeface="Cambria"/>
              </a:rPr>
              <a:t> The same variable name can exist in different scopes without necessarily representing the same object.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Best practice </a:t>
            </a:r>
            <a:r>
              <a:rPr sz="2200">
                <a:solidFill>
                  <a:srgbClr val="141414"/>
                </a:solidFill>
                <a:latin typeface="Cambria"/>
              </a:rPr>
              <a:t> Keep variables local when possible to reduce unintended interactions.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37. Functions with Loops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Combination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contain a loop, and a loop can call a function.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 role </a:t>
            </a:r>
            <a:r>
              <a:rPr sz="2200">
                <a:solidFill>
                  <a:srgbClr val="141414"/>
                </a:solidFill>
                <a:latin typeface="Cambria"/>
              </a:rPr>
              <a:t> Defines the reusable calculation or task.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 role </a:t>
            </a:r>
            <a:r>
              <a:rPr sz="2200">
                <a:solidFill>
                  <a:srgbClr val="141414"/>
                </a:solidFill>
                <a:latin typeface="Cambria"/>
              </a:rPr>
              <a:t> Applies that calculation repeatedly to many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Bioinformatics pattern </a:t>
            </a:r>
            <a:r>
              <a:rPr sz="2200">
                <a:solidFill>
                  <a:srgbClr val="141414"/>
                </a:solidFill>
                <a:latin typeface="Cambria"/>
              </a:rPr>
              <a:t> Store sequences, loop through them, call an analysis function and report results.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Advantage </a:t>
            </a:r>
            <a:r>
              <a:rPr sz="2200">
                <a:solidFill>
                  <a:srgbClr val="141414"/>
                </a:solidFill>
                <a:latin typeface="Cambria"/>
              </a:rPr>
              <a:t> Separating repetition from calculation makes programs easier to read and modify.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38. Simple Bioinformatics Functions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Sequence length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return the number of characters in a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Base count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count a user-specified nucleotide.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GC content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calculate the percentage of G and C bases.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Reverse sequence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use slicing to reverse a sequence.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DNA complement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can use a mapping dictionary and loop through each base.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Modularity </a:t>
            </a:r>
            <a:r>
              <a:rPr sz="2200">
                <a:solidFill>
                  <a:srgbClr val="141414"/>
                </a:solidFill>
                <a:latin typeface="Cambria"/>
              </a:rPr>
              <a:t> Each small function can become a component of a larger analysis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39. Example: GC Content Function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Input </a:t>
            </a:r>
            <a:r>
              <a:rPr sz="2200">
                <a:solidFill>
                  <a:srgbClr val="141414"/>
                </a:solidFill>
                <a:latin typeface="Cambria"/>
              </a:rPr>
              <a:t> The function receives a DNA sequence as a parameter.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Counting </a:t>
            </a:r>
            <a:r>
              <a:rPr sz="2200">
                <a:solidFill>
                  <a:srgbClr val="141414"/>
                </a:solidFill>
                <a:latin typeface="Cambria"/>
              </a:rPr>
              <a:t> The numbers of G and C bases are added.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Calculation </a:t>
            </a:r>
            <a:r>
              <a:rPr sz="2200">
                <a:solidFill>
                  <a:srgbClr val="141414"/>
                </a:solidFill>
                <a:latin typeface="Cambria"/>
              </a:rPr>
              <a:t> GC percentage is calculated as `(G + C) / sequence length × 100`.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Return </a:t>
            </a:r>
            <a:r>
              <a:rPr sz="2200">
                <a:solidFill>
                  <a:srgbClr val="141414"/>
                </a:solidFill>
                <a:latin typeface="Cambria"/>
              </a:rPr>
              <a:t> The calculated percentage is returned to the calling code.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Reuse </a:t>
            </a:r>
            <a:r>
              <a:rPr sz="2200">
                <a:solidFill>
                  <a:srgbClr val="141414"/>
                </a:solidFill>
                <a:latin typeface="Cambria"/>
              </a:rPr>
              <a:t> The same function can be applied to many different sequences.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40. Recursion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Recursion </a:t>
            </a:r>
            <a:r>
              <a:rPr sz="2200">
                <a:solidFill>
                  <a:srgbClr val="141414"/>
                </a:solidFill>
                <a:latin typeface="Cambria"/>
              </a:rPr>
              <a:t> A function calls itself to solve a smaller or simpler version of the same problem.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Base case </a:t>
            </a:r>
            <a:r>
              <a:rPr sz="2200">
                <a:solidFill>
                  <a:srgbClr val="141414"/>
                </a:solidFill>
                <a:latin typeface="Cambria"/>
              </a:rPr>
              <a:t> Defines when the recursive process should stop.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Recursive case </a:t>
            </a:r>
            <a:r>
              <a:rPr sz="2200">
                <a:solidFill>
                  <a:srgbClr val="141414"/>
                </a:solidFill>
                <a:latin typeface="Cambria"/>
              </a:rPr>
              <a:t> Calls the same function with a reduced or simpler input.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Purpose </a:t>
            </a:r>
            <a:r>
              <a:rPr sz="2200">
                <a:solidFill>
                  <a:srgbClr val="141414"/>
                </a:solidFill>
                <a:latin typeface="Cambria"/>
              </a:rPr>
              <a:t> Recursion can express naturally hierarchical or self-similar problems.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Iteration comparison </a:t>
            </a:r>
            <a:r>
              <a:rPr sz="2200">
                <a:solidFill>
                  <a:srgbClr val="141414"/>
                </a:solidFill>
                <a:latin typeface="Cambria"/>
              </a:rPr>
              <a:t> Loops repeat instructions directly, whereas recursion repeats through function calls.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Beginner principle </a:t>
            </a:r>
            <a:r>
              <a:rPr sz="2200">
                <a:solidFill>
                  <a:srgbClr val="141414"/>
                </a:solidFill>
                <a:latin typeface="Cambria"/>
              </a:rPr>
              <a:t> Always identify the base case before writing a recursive function.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41. Recursion vs Iteration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Iteration </a:t>
            </a:r>
            <a:r>
              <a:rPr sz="2200">
                <a:solidFill>
                  <a:srgbClr val="141414"/>
                </a:solidFill>
                <a:latin typeface="Cambria"/>
              </a:rPr>
              <a:t> Uses `for` or `while` to repeat operations.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Recursion </a:t>
            </a:r>
            <a:r>
              <a:rPr sz="2200">
                <a:solidFill>
                  <a:srgbClr val="141414"/>
                </a:solidFill>
                <a:latin typeface="Cambria"/>
              </a:rPr>
              <a:t> Uses repeated function calls to solve smaller versions of a problem.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 advantage </a:t>
            </a:r>
            <a:r>
              <a:rPr sz="2200">
                <a:solidFill>
                  <a:srgbClr val="141414"/>
                </a:solidFill>
                <a:latin typeface="Cambria"/>
              </a:rPr>
              <a:t> Often simpler and more memory-efficient for straightforward repetition.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Recursion advantage </a:t>
            </a:r>
            <a:r>
              <a:rPr sz="2200">
                <a:solidFill>
                  <a:srgbClr val="141414"/>
                </a:solidFill>
                <a:latin typeface="Cambria"/>
              </a:rPr>
              <a:t> Can provide a natural description of hierarchical or self-similar problems.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Important </a:t>
            </a:r>
            <a:r>
              <a:rPr sz="2200">
                <a:solidFill>
                  <a:srgbClr val="141414"/>
                </a:solidFill>
                <a:latin typeface="Cambria"/>
              </a:rPr>
              <a:t> Recursion is not automatically better; the choice depends on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42. The Complete Programming Workflow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Represent data </a:t>
            </a:r>
            <a:r>
              <a:rPr sz="2200">
                <a:solidFill>
                  <a:srgbClr val="141414"/>
                </a:solidFill>
                <a:latin typeface="Cambria"/>
              </a:rPr>
              <a:t> Store values in variables and appropriate data structures.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Access data </a:t>
            </a:r>
            <a:r>
              <a:rPr sz="2200">
                <a:solidFill>
                  <a:srgbClr val="141414"/>
                </a:solidFill>
                <a:latin typeface="Cambria"/>
              </a:rPr>
              <a:t> Use indexing, slicing or key-based dictionary access.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Make decisions </a:t>
            </a:r>
            <a:r>
              <a:rPr sz="2200">
                <a:solidFill>
                  <a:srgbClr val="141414"/>
                </a:solidFill>
                <a:latin typeface="Cambria"/>
              </a:rPr>
              <a:t> Use conditions to apply rules.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Repeat operations </a:t>
            </a:r>
            <a:r>
              <a:rPr sz="2200">
                <a:solidFill>
                  <a:srgbClr val="141414"/>
                </a:solidFill>
                <a:latin typeface="Cambria"/>
              </a:rPr>
              <a:t> Use loops to process multiple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Package tasks </a:t>
            </a:r>
            <a:r>
              <a:rPr sz="2200">
                <a:solidFill>
                  <a:srgbClr val="141414"/>
                </a:solidFill>
                <a:latin typeface="Cambria"/>
              </a:rPr>
              <a:t> Use functions to create reusable operations.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Combine components </a:t>
            </a:r>
            <a:r>
              <a:rPr sz="2200">
                <a:solidFill>
                  <a:srgbClr val="141414"/>
                </a:solidFill>
                <a:latin typeface="Cambria"/>
              </a:rPr>
              <a:t> Build larger analyses from small functions, loops and conditions.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Apply to biology </a:t>
            </a:r>
            <a:r>
              <a:rPr sz="2200">
                <a:solidFill>
                  <a:srgbClr val="141414"/>
                </a:solidFill>
                <a:latin typeface="Cambria"/>
              </a:rPr>
              <a:t> Use the same concepts for sequences, genes, proteins, compounds and numerical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43. Final Mental Model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Variables </a:t>
            </a:r>
            <a:r>
              <a:rPr sz="2200">
                <a:solidFill>
                  <a:srgbClr val="141414"/>
                </a:solidFill>
                <a:latin typeface="Cambria"/>
              </a:rPr>
              <a:t> Give names to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Data structures </a:t>
            </a:r>
            <a:r>
              <a:rPr sz="2200">
                <a:solidFill>
                  <a:srgbClr val="141414"/>
                </a:solidFill>
                <a:latin typeface="Cambria"/>
              </a:rPr>
              <a:t> Organize collections of values.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Indexing and slicing </a:t>
            </a:r>
            <a:r>
              <a:rPr sz="2200">
                <a:solidFill>
                  <a:srgbClr val="141414"/>
                </a:solidFill>
                <a:latin typeface="Cambria"/>
              </a:rPr>
              <a:t> Access parts of ordered data.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Conditions </a:t>
            </a:r>
            <a:r>
              <a:rPr sz="2200">
                <a:solidFill>
                  <a:srgbClr val="141414"/>
                </a:solidFill>
                <a:latin typeface="Cambria"/>
              </a:rPr>
              <a:t> Make decisions.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Loops </a:t>
            </a:r>
            <a:r>
              <a:rPr sz="2200">
                <a:solidFill>
                  <a:srgbClr val="141414"/>
                </a:solidFill>
                <a:latin typeface="Cambria"/>
              </a:rPr>
              <a:t> Repeat operations.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Functions </a:t>
            </a:r>
            <a:r>
              <a:rPr sz="2200">
                <a:solidFill>
                  <a:srgbClr val="141414"/>
                </a:solidFill>
                <a:latin typeface="Cambria"/>
              </a:rPr>
              <a:t> Package reusable tasks.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Recursion </a:t>
            </a:r>
            <a:r>
              <a:rPr sz="2200">
                <a:solidFill>
                  <a:srgbClr val="141414"/>
                </a:solidFill>
                <a:latin typeface="Cambria"/>
              </a:rPr>
              <a:t> Express problems through smaller versions of themselves.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Computational biology </a:t>
            </a:r>
            <a:r>
              <a:rPr sz="2200">
                <a:solidFill>
                  <a:srgbClr val="141414"/>
                </a:solidFill>
                <a:latin typeface="Cambria"/>
              </a:rPr>
              <a:t> Combines these programming foundations to analyse biological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44. Theory Questions for Discussion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Why does Python use zero-based indexing?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the difference between indexing and slicing?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When would you choose a list instead of a tuple?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Why are sets useful for finding unique values?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When is a dictionary more useful than a list?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the difference between a `for` loop and a `while` loop?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the difference between `break` and `continue`?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the difference between a loop and a function?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the difference between a parameter and an argument?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Why is `return` different from `print()`?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What is variable scope?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>
                <a:solidFill>
                  <a:srgbClr val="141414"/>
                </a:solidFill>
                <a:latin typeface="Cambria"/>
              </a:rPr>
              <a:t>Why does a recursive function require a base case?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mbria"/>
              </a:rPr>
              <a:t>45. From Theory to Practical</a:t>
            </a:r>
          </a:p>
        </p:txBody>
      </p:sp>
      <p:pic>
        <p:nvPicPr>
          <p:cNvPr id="3" name="Picture 2" descr="ruas_logo_for_programming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"/>
            <a:ext cx="1783080" cy="8555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14400"/>
            <a:ext cx="11658600" cy="41148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0835640" cy="4983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First understand the concept </a:t>
            </a:r>
            <a:r>
              <a:rPr sz="2200">
                <a:solidFill>
                  <a:srgbClr val="141414"/>
                </a:solidFill>
                <a:latin typeface="Cambria"/>
              </a:rPr>
              <a:t> Know what problem the construct solves.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Then read the syntax </a:t>
            </a:r>
            <a:r>
              <a:rPr sz="2200">
                <a:solidFill>
                  <a:srgbClr val="141414"/>
                </a:solidFill>
                <a:latin typeface="Cambria"/>
              </a:rPr>
              <a:t> Identify the role of each part of the statement.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Predict the output </a:t>
            </a:r>
            <a:r>
              <a:rPr sz="2200">
                <a:solidFill>
                  <a:srgbClr val="141414"/>
                </a:solidFill>
                <a:latin typeface="Cambria"/>
              </a:rPr>
              <a:t> Think through the code before running it.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Modify the example </a:t>
            </a:r>
            <a:r>
              <a:rPr sz="2200">
                <a:solidFill>
                  <a:srgbClr val="141414"/>
                </a:solidFill>
                <a:latin typeface="Cambria"/>
              </a:rPr>
              <a:t> Change values, sequences or conditions and observe the result.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Build a small solution </a:t>
            </a:r>
            <a:r>
              <a:rPr sz="2200">
                <a:solidFill>
                  <a:srgbClr val="141414"/>
                </a:solidFill>
                <a:latin typeface="Cambria"/>
              </a:rPr>
              <a:t> Combine variables, data structures, conditions, loops and functions.</a:t>
            </a:r>
          </a:p>
          <a:p>
            <a:pPr algn="just">
              <a:lnSpc>
                <a:spcPct val="100000"/>
              </a:lnSpc>
              <a:spcAft>
                <a:spcPts val="1200"/>
              </a:spcAft>
            </a:pPr>
            <a:r>
              <a:rPr sz="2200">
                <a:solidFill>
                  <a:srgbClr val="A6145B"/>
                </a:solidFill>
                <a:latin typeface="Cambria"/>
              </a:rPr>
              <a:t>• </a:t>
            </a:r>
            <a:r>
              <a:rPr sz="2200" b="1">
                <a:solidFill>
                  <a:srgbClr val="141414"/>
                </a:solidFill>
                <a:latin typeface="Cambria"/>
              </a:rPr>
              <a:t>Apply to biological data </a:t>
            </a:r>
            <a:r>
              <a:rPr sz="2200">
                <a:solidFill>
                  <a:srgbClr val="141414"/>
                </a:solidFill>
                <a:latin typeface="Cambria"/>
              </a:rPr>
              <a:t> Move from toy examples to real sequences and computational biology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327648"/>
            <a:ext cx="310896" cy="365760"/>
          </a:xfrm>
          <a:prstGeom prst="rect">
            <a:avLst/>
          </a:prstGeom>
          <a:solidFill>
            <a:srgbClr val="A6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82512"/>
            <a:ext cx="310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mbria"/>
              </a:rPr>
              <a:t>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